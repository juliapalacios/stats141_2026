
<file path=[Content_Types].xml><?xml version="1.0" encoding="utf-8"?>
<Types xmlns="http://schemas.openxmlformats.org/package/2006/content-types">
  <Default Extension="xml" ContentType="application/xml"/>
  <Default Extension="rels" ContentType="application/vnd.openxmlformats-package.relationships+xml"/>
  <Default Extension="ppm" ContentType="image/x-portable-pixmap"/>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7" Type="http://schemas.openxmlformats.org/officeDocument/2006/relationships/viewProps" Target="viewProps.xml" /><Relationship Id="rId6" Type="http://schemas.openxmlformats.org/officeDocument/2006/relationships/presProps" Target="presProps.xml" /><Relationship Id="rId1" Type="http://schemas.openxmlformats.org/officeDocument/2006/relationships/slideMaster" Target="slideMasters/slideMaster1.xml" /><Relationship Id="rId9" Type="http://schemas.openxmlformats.org/officeDocument/2006/relationships/tableStyles" Target="tableStyles.xml" /><Relationship Id="rId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pm"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3.png" /><Relationship Id="rId2" Type="http://schemas.openxmlformats.org/officeDocument/2006/relationships/image" Target="../media/image2.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Introduction to Statistics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Statistics</a:t>
            </a:r>
          </a:p>
        </p:txBody>
      </p:sp>
      <p:sp>
        <p:nvSpPr>
          <p:cNvPr id="4" name="Text Placeholder 3"/>
          <p:cNvSpPr>
            <a:spLocks noGrp="1"/>
          </p:cNvSpPr>
          <p:nvPr>
            <p:ph idx="2" sz="half" type="body"/>
          </p:nvPr>
        </p:nvSpPr>
        <p:spPr/>
        <p:txBody>
          <a:bodyPr/>
          <a:lstStyle/>
          <a:p>
            <a:pPr lvl="0" indent="0" marL="0">
              <a:buNone/>
            </a:pPr>
            <a:r>
              <a:rPr/>
              <a:t>Researchers in the life sciences analyze </a:t>
            </a:r>
            <a:r>
              <a:rPr b="1"/>
              <a:t>data</a:t>
            </a:r>
            <a:r>
              <a:rPr/>
              <a:t> that exhibit some </a:t>
            </a:r>
            <a:r>
              <a:rPr b="1"/>
              <a:t>variability</a:t>
            </a:r>
            <a:r>
              <a:rPr/>
              <a:t>. For example, patients given the same treatment may respond differently; PCR (Polymerase Chain Reaction) prepared identically may have different results due to contamination, thermal damage, etc. The challenge to the life scientist is to discern the </a:t>
            </a:r>
            <a:r>
              <a:rPr b="1"/>
              <a:t>signal</a:t>
            </a:r>
            <a:r>
              <a:rPr/>
              <a:t> from the </a:t>
            </a:r>
            <a:r>
              <a:rPr b="1"/>
              <a:t>noise</a:t>
            </a:r>
            <a:r>
              <a:rPr/>
              <a:t>.</a:t>
            </a:r>
          </a:p>
          <a:p>
            <a:pPr lvl="0" indent="0" marL="0">
              <a:spcBef>
                <a:spcPts val="3000"/>
              </a:spcBef>
              <a:buNone/>
            </a:pPr>
            <a:r>
              <a:rPr b="1"/>
              <a:t>Statistics</a:t>
            </a:r>
          </a:p>
          <a:p>
            <a:pPr lvl="0" indent="0" marL="0">
              <a:buNone/>
            </a:pPr>
            <a:r>
              <a:rPr b="1"/>
              <a:t>Statistics</a:t>
            </a:r>
            <a:r>
              <a:rPr/>
              <a:t> is the science of understanding data (collection, analysis and presentation) and of making decisions in the face of variability and uncertainty. Statistics is a core component of </a:t>
            </a:r>
            <a:r>
              <a:rPr b="1"/>
              <a:t>data science</a:t>
            </a:r>
            <a:r>
              <a:rPr/>
              <a:t>.</a:t>
            </a:r>
          </a:p>
        </p:txBody>
      </p:sp>
      <p:pic>
        <p:nvPicPr>
          <p:cNvPr descr="./Figures/DataScience.ppm" id="0" name="Picture 1"/>
          <p:cNvPicPr>
            <a:picLocks noGrp="1" noChangeAspect="1"/>
          </p:cNvPicPr>
          <p:nvPr/>
        </p:nvPicPr>
        <p:blipFill>
          <a:blip r:embed="rId2"/>
          <a:stretch>
            <a:fillRect/>
          </a:stretch>
        </p:blipFill>
        <p:spPr bwMode="auto">
          <a:xfrm>
            <a:off x="4267200" y="203200"/>
            <a:ext cx="3708400" cy="38735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Data Science, credit: Lee et al. 2018</a:t>
            </a:r>
          </a:p>
        </p:txBody>
      </p:sp>
      <p:sp>
        <p:nvSpPr>
          <p:cNvPr id="3" name="Content Placeholder 2"/>
          <p:cNvSpPr>
            <a:spLocks noGrp="1"/>
          </p:cNvSpPr>
          <p:nvPr>
            <p:ph idx="1"/>
          </p:nvPr>
        </p:nvSpPr>
        <p:spPr/>
        <p:txBody>
          <a:bodyPr/>
          <a:lstStyle/>
          <a:p>
            <a:pPr lvl="0" indent="0" marL="0">
              <a:spcBef>
                <a:spcPts val="3000"/>
              </a:spcBef>
              <a:buNone/>
            </a:pPr>
            <a:r>
              <a:rPr b="1"/>
              <a:t>Example</a:t>
            </a:r>
          </a:p>
          <a:p>
            <a:pPr lvl="0" indent="0" marL="1270000">
              <a:buNone/>
            </a:pPr>
            <a:r>
              <a:rPr sz="2000" b="1"/>
              <a:t>Example: Cats in New York</a:t>
            </a:r>
          </a:p>
          <a:p>
            <a:pPr lvl="0" indent="0" marL="1270000">
              <a:buNone/>
            </a:pPr>
            <a:r>
              <a:rPr sz="2000"/>
              <a:t>An article presented results on the number of injuries of cats that had plummeted from buildings in New York City, according to the number of floors they had fallen. The damage caused by such falls was dubbed feline high-rise syndrome (FHRS).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Untitled_files/figure-pptx/unnamed-chunk-1-1.png" id="0" name="Picture 1"/>
          <p:cNvPicPr>
            <a:picLocks noGrp="1" noChangeAspect="1"/>
          </p:cNvPicPr>
          <p:nvPr/>
        </p:nvPicPr>
        <p:blipFill>
          <a:blip r:embed="rId2"/>
          <a:stretch>
            <a:fillRect/>
          </a:stretch>
        </p:blipFill>
        <p:spPr bwMode="auto">
          <a:xfrm>
            <a:off x="457200" y="1879600"/>
            <a:ext cx="4038600" cy="2019300"/>
          </a:xfrm>
          <a:prstGeom prst="rect">
            <a:avLst/>
          </a:prstGeom>
          <a:noFill/>
          <a:ln w="9525">
            <a:noFill/>
            <a:headEnd/>
            <a:tailEnd/>
          </a:ln>
        </p:spPr>
      </p:pic>
      <p:pic>
        <p:nvPicPr>
          <p:cNvPr descr="./Figures/cats.png" id="0" name="Picture 1"/>
          <p:cNvPicPr>
            <a:picLocks noGrp="1" noChangeAspect="1"/>
          </p:cNvPicPr>
          <p:nvPr/>
        </p:nvPicPr>
        <p:blipFill>
          <a:blip r:embed="rId3"/>
          <a:stretch>
            <a:fillRect/>
          </a:stretch>
        </p:blipFill>
        <p:spPr bwMode="auto">
          <a:xfrm>
            <a:off x="5257800" y="1193800"/>
            <a:ext cx="2806700" cy="2882900"/>
          </a:xfrm>
          <a:prstGeom prst="rect">
            <a:avLst/>
          </a:prstGeom>
          <a:noFill/>
          <a:ln w="9525">
            <a:noFill/>
            <a:headEnd/>
            <a:tailEnd/>
          </a:ln>
        </p:spPr>
      </p:pic>
      <p:sp>
        <p:nvSpPr>
          <p:cNvPr id="1" name="TextBox 3"/>
          <p:cNvSpPr txBox="1"/>
          <p:nvPr>
            <p:ph idx="1"/>
          </p:nvPr>
        </p:nvSpPr>
        <p:spPr>
          <a:xfrm>
            <a:off x="4648200" y="4076700"/>
            <a:ext cx="4038600" cy="508000"/>
          </a:xfrm>
          <a:prstGeom prst="rect">
            <a:avLst/>
          </a:prstGeom>
          <a:noFill/>
        </p:spPr>
        <p:txBody>
          <a:bodyPr/>
          <a:lstStyle/>
          <a:p>
            <a:pPr lvl="0" indent="0" marL="0" algn="ctr">
              <a:buNone/>
            </a:pPr>
            <a:r>
              <a:rPr/>
              <a:t>Raining cats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
  <cp:keywords/>
  <dcterms:created xsi:type="dcterms:W3CDTF">2026-03-30T02:18:44Z</dcterms:created>
  <dcterms:modified xsi:type="dcterms:W3CDTF">2026-03-30T02:18:44Z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ngines">
    <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toc-title">
    <vt:lpwstr>Table of contents</vt:lpwstr>
  </property>
</Properties>
</file>